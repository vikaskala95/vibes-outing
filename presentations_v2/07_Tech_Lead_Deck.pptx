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9144000" cy="73152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squ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457200"/>
            <a:ext cx="2103120" cy="2103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27432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6C3CE1"/>
                </a:solidFill>
              </a:rPr>
              <a:t>VIBES@Outing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FFFFFF"/>
                </a:solidFill>
              </a:rPr>
              <a:t>Tech Lead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i="1">
                <a:solidFill>
                  <a:srgbClr val="00CCA3"/>
                </a:solidFill>
              </a:rPr>
              <a:t>Architecture | Stack | Security | DevOps |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i="1">
                <a:solidFill>
                  <a:srgbClr val="FFD93D"/>
                </a:solidFill>
              </a:rPr>
              <a:t>Discover. Connect. Explore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58521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C757D"/>
                </a:solidFill>
              </a:rPr>
              <a:t>Founded 2026 | India-first | GenZ-focused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09728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6C3CE1"/>
                </a:solidFill>
              </a:rPr>
              <a:t>VIBES@Outing</a:t>
            </a:r>
            <a:r>
              <a:rPr sz="1000">
                <a:solidFill>
                  <a:srgbClr val="6C757D"/>
                </a:solidFill>
              </a:rPr>
              <a:t>  •  Premium GenZ Group Outings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291072"/>
            <a:ext cx="347472" cy="3474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C3CE1"/>
                </a:solidFill>
              </a:rPr>
              <a:t>VIBES@Outing — Discover. Connect. Explore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263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CCA3"/>
                </a:solidFill>
              </a:rPr>
              <a:t>www.vibesouting.in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0"/>
            <a:ext cx="54864" cy="5577840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E1B2E"/>
                </a:solidFill>
              </a:rPr>
              <a:t>Technical Architecture Overview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371600"/>
            <a:ext cx="1828800" cy="36576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1554480"/>
            <a:ext cx="8229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6C3CE1"/>
                </a:solidFill>
              </a:rPr>
              <a:t>Current Stack (MVP — Live)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Frontend: Single Page App (HTML5/CSS3/Vanilla JS) + PWA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Backend: Node.js + Express.js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Database: PostgreSQL (via pg Pool)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Payments: Razorpay (UPI, Cards, NetBanking)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Auth: JWT + bcrypt + Google OAuth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AI: MCP Server (@modelcontextprotocol/sdk)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6C3CE1"/>
                </a:solidFill>
              </a:rPr>
              <a:t>Hosting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Backend + DB: Render.com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Frontend: Vercel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Containerization: Docker (Dockerfile + render.yaml + vercel.json)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6C3CE1"/>
                </a:solidFill>
              </a:rPr>
              <a:t>  ★  Full MVP live with 42 curated outings, payments, admin dashboard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09728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6C3CE1"/>
                </a:solidFill>
              </a:rPr>
              <a:t>VIBES@Outing</a:t>
            </a:r>
            <a:r>
              <a:rPr sz="1000">
                <a:solidFill>
                  <a:srgbClr val="6C757D"/>
                </a:solidFill>
              </a:rPr>
              <a:t>  •  Premium GenZ Group Outings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291072"/>
            <a:ext cx="347472" cy="3474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C3CE1"/>
                </a:solidFill>
              </a:rPr>
              <a:t>VIBES@Outing — Discover. Connect. Explore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263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CCA3"/>
                </a:solidFill>
              </a:rPr>
              <a:t>www.vibesouting.in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1B2E"/>
                </a:solidFill>
              </a:rPr>
              <a:t>Tech Stack Deep Dive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554480"/>
          <a:ext cx="8229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901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Layer</a:t>
                      </a:r>
                    </a:p>
                  </a:txBody>
                  <a:tcPr>
                    <a:solidFill>
                      <a:srgbClr val="6C3C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Technology</a:t>
                      </a:r>
                    </a:p>
                  </a:txBody>
                  <a:tcPr>
                    <a:solidFill>
                      <a:srgbClr val="6C3C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6C3C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6C3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Frontend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HTML5/CSS3/JS + PWA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Installable mobile web app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✅ Live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Backend API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Node.js + Express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REST API, business logic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✅ Live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Database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PostgreSQL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Users, bookings, outings, reviews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✅ Live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Payments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Razorpay SDK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UPI, Cards, NetBanking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✅ Live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Auth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JWT + bcrypt + Google OAuth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Secure authentication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✅ Live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Email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Nodemailer (SMTP)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Notifications, password reset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✅ Live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Security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Helmet, CORS, HPP, rate limiting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API protection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✅ Live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AI/MCP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@modelcontextprotocol/sdk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AI agent integration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✅ Live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DevOps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Docker + Render + Vercel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CI/CD, hosting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✅ Live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90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Mobile App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React Native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Native mobile experience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Phase 2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09728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6C3CE1"/>
                </a:solidFill>
              </a:rPr>
              <a:t>VIBES@Outing</a:t>
            </a:r>
            <a:r>
              <a:rPr sz="1000">
                <a:solidFill>
                  <a:srgbClr val="6C757D"/>
                </a:solidFill>
              </a:rPr>
              <a:t>  •  Premium GenZ Group Outings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291072"/>
            <a:ext cx="347472" cy="3474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C3CE1"/>
                </a:solidFill>
              </a:rPr>
              <a:t>VIBES@Outing — Discover. Connect. Explore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263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CCA3"/>
                </a:solidFill>
              </a:rPr>
              <a:t>www.vibesouting.in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0"/>
            <a:ext cx="54864" cy="5577840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E1B2E"/>
                </a:solidFill>
              </a:rPr>
              <a:t>API Architecture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371600"/>
            <a:ext cx="1828800" cy="36576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1554480"/>
            <a:ext cx="8229600" cy="4298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b="1" dirty="0">
                <a:solidFill>
                  <a:srgbClr val="6C3CE1"/>
                </a:solidFill>
              </a:rPr>
              <a:t>Core API Endpoints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dirty="0">
                <a:solidFill>
                  <a:srgbClr val="1E1B2E"/>
                </a:solidFill>
              </a:rPr>
              <a:t>●  Auth: /</a:t>
            </a:r>
            <a:r>
              <a:rPr sz="1200" dirty="0" err="1">
                <a:solidFill>
                  <a:srgbClr val="1E1B2E"/>
                </a:solidFill>
              </a:rPr>
              <a:t>api</a:t>
            </a:r>
            <a:r>
              <a:rPr sz="1200" dirty="0">
                <a:solidFill>
                  <a:srgbClr val="1E1B2E"/>
                </a:solidFill>
              </a:rPr>
              <a:t>/auth/register, /login, /google-login, /reset-password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dirty="0">
                <a:solidFill>
                  <a:srgbClr val="1E1B2E"/>
                </a:solidFill>
              </a:rPr>
              <a:t>●  Outings: /</a:t>
            </a:r>
            <a:r>
              <a:rPr sz="1200" dirty="0" err="1">
                <a:solidFill>
                  <a:srgbClr val="1E1B2E"/>
                </a:solidFill>
              </a:rPr>
              <a:t>api</a:t>
            </a:r>
            <a:r>
              <a:rPr sz="1200" dirty="0">
                <a:solidFill>
                  <a:srgbClr val="1E1B2E"/>
                </a:solidFill>
              </a:rPr>
              <a:t>/outings (CRUD), /</a:t>
            </a:r>
            <a:r>
              <a:rPr sz="1200" dirty="0" err="1">
                <a:solidFill>
                  <a:srgbClr val="1E1B2E"/>
                </a:solidFill>
              </a:rPr>
              <a:t>api</a:t>
            </a:r>
            <a:r>
              <a:rPr sz="1200" dirty="0">
                <a:solidFill>
                  <a:srgbClr val="1E1B2E"/>
                </a:solidFill>
              </a:rPr>
              <a:t>/outings/filter, /</a:t>
            </a:r>
            <a:r>
              <a:rPr sz="1200" dirty="0" err="1">
                <a:solidFill>
                  <a:srgbClr val="1E1B2E"/>
                </a:solidFill>
              </a:rPr>
              <a:t>api</a:t>
            </a:r>
            <a:r>
              <a:rPr sz="1200" dirty="0">
                <a:solidFill>
                  <a:srgbClr val="1E1B2E"/>
                </a:solidFill>
              </a:rPr>
              <a:t>/outings/search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dirty="0">
                <a:solidFill>
                  <a:srgbClr val="1E1B2E"/>
                </a:solidFill>
              </a:rPr>
              <a:t>●  Bookings: /</a:t>
            </a:r>
            <a:r>
              <a:rPr sz="1200" dirty="0" err="1">
                <a:solidFill>
                  <a:srgbClr val="1E1B2E"/>
                </a:solidFill>
              </a:rPr>
              <a:t>api</a:t>
            </a:r>
            <a:r>
              <a:rPr sz="1200" dirty="0">
                <a:solidFill>
                  <a:srgbClr val="1E1B2E"/>
                </a:solidFill>
              </a:rPr>
              <a:t>/bookings/create, /verify-payment, /my-bookings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dirty="0">
                <a:solidFill>
                  <a:srgbClr val="1E1B2E"/>
                </a:solidFill>
              </a:rPr>
              <a:t>●  Reviews: /</a:t>
            </a:r>
            <a:r>
              <a:rPr sz="1200" dirty="0" err="1">
                <a:solidFill>
                  <a:srgbClr val="1E1B2E"/>
                </a:solidFill>
              </a:rPr>
              <a:t>api</a:t>
            </a:r>
            <a:r>
              <a:rPr sz="1200" dirty="0">
                <a:solidFill>
                  <a:srgbClr val="1E1B2E"/>
                </a:solidFill>
              </a:rPr>
              <a:t>/reviews/create, /by-outing, /by-user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dirty="0">
                <a:solidFill>
                  <a:srgbClr val="1E1B2E"/>
                </a:solidFill>
              </a:rPr>
              <a:t>●  Admin: /</a:t>
            </a:r>
            <a:r>
              <a:rPr sz="1200" dirty="0" err="1">
                <a:solidFill>
                  <a:srgbClr val="1E1B2E"/>
                </a:solidFill>
              </a:rPr>
              <a:t>api</a:t>
            </a:r>
            <a:r>
              <a:rPr sz="1200" dirty="0">
                <a:solidFill>
                  <a:srgbClr val="1E1B2E"/>
                </a:solidFill>
              </a:rPr>
              <a:t>/admin/dashboard, /users, /bookings, /analytics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b="1" dirty="0">
                <a:solidFill>
                  <a:srgbClr val="6C3CE1"/>
                </a:solidFill>
              </a:rPr>
              <a:t>API Design Principles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dirty="0">
                <a:solidFill>
                  <a:srgbClr val="1E1B2E"/>
                </a:solidFill>
              </a:rPr>
              <a:t>●  RESTful design with consistent error handling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dirty="0">
                <a:solidFill>
                  <a:srgbClr val="1E1B2E"/>
                </a:solidFill>
              </a:rPr>
              <a:t>●  Input validation via express-validator on all endpoints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dirty="0">
                <a:solidFill>
                  <a:srgbClr val="1E1B2E"/>
                </a:solidFill>
              </a:rPr>
              <a:t>●  Rate limiting: 100 req/15min per IP (general), 5 req/15min (auth)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dirty="0">
                <a:solidFill>
                  <a:srgbClr val="1E1B2E"/>
                </a:solidFill>
              </a:rPr>
              <a:t>●  JWT token-based auth with refresh token rotation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b="1" dirty="0">
                <a:solidFill>
                  <a:srgbClr val="6C3CE1"/>
                </a:solidFill>
              </a:rPr>
              <a:t>Database Design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dirty="0">
                <a:solidFill>
                  <a:srgbClr val="1E1B2E"/>
                </a:solidFill>
              </a:rPr>
              <a:t>●  Normalized PostgreSQL schema: users, outings, bookings, reviews, suggestions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dirty="0">
                <a:solidFill>
                  <a:srgbClr val="1E1B2E"/>
                </a:solidFill>
              </a:rPr>
              <a:t>●  Indexed queries for search &amp; filter performance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b="1" dirty="0">
                <a:solidFill>
                  <a:srgbClr val="6C3CE1"/>
                </a:solidFill>
              </a:rPr>
              <a:t>  ★  Connection pooling via </a:t>
            </a:r>
            <a:r>
              <a:rPr sz="1200" b="1" dirty="0" err="1">
                <a:solidFill>
                  <a:srgbClr val="6C3CE1"/>
                </a:solidFill>
              </a:rPr>
              <a:t>pg</a:t>
            </a:r>
            <a:r>
              <a:rPr sz="1200" b="1" dirty="0">
                <a:solidFill>
                  <a:srgbClr val="6C3CE1"/>
                </a:solidFill>
              </a:rPr>
              <a:t> Pool — handles 100+ concurrent connections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09728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6C3CE1"/>
                </a:solidFill>
              </a:rPr>
              <a:t>VIBES@Outing</a:t>
            </a:r>
            <a:r>
              <a:rPr sz="1000">
                <a:solidFill>
                  <a:srgbClr val="6C757D"/>
                </a:solidFill>
              </a:rPr>
              <a:t>  •  Premium GenZ Group Outings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291072"/>
            <a:ext cx="347472" cy="3474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C3CE1"/>
                </a:solidFill>
              </a:rPr>
              <a:t>VIBES@Outing — Discover. Connect. Explore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263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CCA3"/>
                </a:solidFill>
              </a:rPr>
              <a:t>www.vibesouting.in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0"/>
            <a:ext cx="54864" cy="5577840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E1B2E"/>
                </a:solidFill>
              </a:rPr>
              <a:t>Security Architecture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371600"/>
            <a:ext cx="1828800" cy="36576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1554480"/>
            <a:ext cx="8229600" cy="461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 b="1" dirty="0">
                <a:solidFill>
                  <a:srgbClr val="6C3CE1"/>
                </a:solidFill>
              </a:rPr>
              <a:t>Application Security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 dirty="0">
                <a:solidFill>
                  <a:srgbClr val="1E1B2E"/>
                </a:solidFill>
              </a:rPr>
              <a:t>●  Helmet.js: HTTP security headers (CSP, X-Frame-Options, etc.)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 dirty="0">
                <a:solidFill>
                  <a:srgbClr val="1E1B2E"/>
                </a:solidFill>
              </a:rPr>
              <a:t>●  CORS: Whitelist-based origin control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 dirty="0">
                <a:solidFill>
                  <a:srgbClr val="1E1B2E"/>
                </a:solidFill>
              </a:rPr>
              <a:t>●  HPP: HTTP parameter pollution prevention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 dirty="0">
                <a:solidFill>
                  <a:srgbClr val="1E1B2E"/>
                </a:solidFill>
              </a:rPr>
              <a:t>●  Rate limiting: Tiered limits (auth stricter than general API)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 b="1" dirty="0">
                <a:solidFill>
                  <a:srgbClr val="6C3CE1"/>
                </a:solidFill>
              </a:rPr>
              <a:t>Authentication Security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 dirty="0">
                <a:solidFill>
                  <a:srgbClr val="1E1B2E"/>
                </a:solidFill>
              </a:rPr>
              <a:t>●  </a:t>
            </a:r>
            <a:r>
              <a:rPr sz="1100" dirty="0" err="1">
                <a:solidFill>
                  <a:srgbClr val="1E1B2E"/>
                </a:solidFill>
              </a:rPr>
              <a:t>bcrypt</a:t>
            </a:r>
            <a:r>
              <a:rPr sz="1100" dirty="0">
                <a:solidFill>
                  <a:srgbClr val="1E1B2E"/>
                </a:solidFill>
              </a:rPr>
              <a:t> password hashing (12 rounds)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 dirty="0">
                <a:solidFill>
                  <a:srgbClr val="1E1B2E"/>
                </a:solidFill>
              </a:rPr>
              <a:t>●  JWT with short expiry + refresh token rotation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 dirty="0">
                <a:solidFill>
                  <a:srgbClr val="1E1B2E"/>
                </a:solidFill>
              </a:rPr>
              <a:t>●  Google OAuth as social login alternative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 b="1" dirty="0">
                <a:solidFill>
                  <a:srgbClr val="6C3CE1"/>
                </a:solidFill>
              </a:rPr>
              <a:t>Data Security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 dirty="0">
                <a:solidFill>
                  <a:srgbClr val="1E1B2E"/>
                </a:solidFill>
              </a:rPr>
              <a:t>●  Input sanitization &amp; validation on all endpoints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 dirty="0">
                <a:solidFill>
                  <a:srgbClr val="1E1B2E"/>
                </a:solidFill>
              </a:rPr>
              <a:t>●  SQL injection prevention via parameterized queries (</a:t>
            </a:r>
            <a:r>
              <a:rPr sz="1100" dirty="0" err="1">
                <a:solidFill>
                  <a:srgbClr val="1E1B2E"/>
                </a:solidFill>
              </a:rPr>
              <a:t>pg</a:t>
            </a:r>
            <a:r>
              <a:rPr sz="1100" dirty="0">
                <a:solidFill>
                  <a:srgbClr val="1E1B2E"/>
                </a:solidFill>
              </a:rPr>
              <a:t> Pool)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 dirty="0">
                <a:solidFill>
                  <a:srgbClr val="1E1B2E"/>
                </a:solidFill>
              </a:rPr>
              <a:t>●  XSS prevention via Content Security Policy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 dirty="0">
                <a:solidFill>
                  <a:srgbClr val="1E1B2E"/>
                </a:solidFill>
              </a:rPr>
              <a:t>●  Aadhaar/PAN data: Encrypted at rest, access-controlled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 b="1" dirty="0">
                <a:solidFill>
                  <a:srgbClr val="6C3CE1"/>
                </a:solidFill>
              </a:rPr>
              <a:t>Payment Security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 dirty="0">
                <a:solidFill>
                  <a:srgbClr val="1E1B2E"/>
                </a:solidFill>
              </a:rPr>
              <a:t>●  </a:t>
            </a:r>
            <a:r>
              <a:rPr sz="1100" dirty="0" err="1">
                <a:solidFill>
                  <a:srgbClr val="1E1B2E"/>
                </a:solidFill>
              </a:rPr>
              <a:t>Razorpay</a:t>
            </a:r>
            <a:r>
              <a:rPr sz="1100" dirty="0">
                <a:solidFill>
                  <a:srgbClr val="1E1B2E"/>
                </a:solidFill>
              </a:rPr>
              <a:t> handles PCI-DSS compliance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 b="1" dirty="0">
                <a:solidFill>
                  <a:srgbClr val="6C3CE1"/>
                </a:solidFill>
              </a:rPr>
              <a:t>  ★  Server-side payment verification — never trust client-side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09728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6C3CE1"/>
                </a:solidFill>
              </a:rPr>
              <a:t>VIBES@Outing</a:t>
            </a:r>
            <a:r>
              <a:rPr sz="1000">
                <a:solidFill>
                  <a:srgbClr val="6C757D"/>
                </a:solidFill>
              </a:rPr>
              <a:t>  •  Premium GenZ Group Outings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291072"/>
            <a:ext cx="347472" cy="3474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C3CE1"/>
                </a:solidFill>
              </a:rPr>
              <a:t>VIBES@Outing — Discover. Connect. Explore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263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CCA3"/>
                </a:solidFill>
              </a:rPr>
              <a:t>www.vibesouting.in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0"/>
            <a:ext cx="54864" cy="5577840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E1B2E"/>
                </a:solidFill>
              </a:rPr>
              <a:t>PWA &amp; Performance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371600"/>
            <a:ext cx="1828800" cy="36576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1554480"/>
            <a:ext cx="8229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6C3CE1"/>
                </a:solidFill>
              </a:rPr>
              <a:t>Progressive Web App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Service Worker: Offline caching, background sync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manifest.json: Installable on mobile home screen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Push notifications (planned)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6C3CE1"/>
                </a:solidFill>
              </a:rPr>
              <a:t>Performance Targets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First Contentful Paint: &lt; 1.5 seconds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Time to Interactive: &lt; 3 seconds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Lighthouse Score: 90+ across all categories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6C3CE1"/>
                </a:solidFill>
              </a:rPr>
              <a:t>Optimization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Image lazy loading for 42 destination galleries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Code splitting for admin vs user views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CDN (Vercel Edge) for static assets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PostgreSQL query optimization with proper indexing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6C3CE1"/>
                </a:solidFill>
              </a:rPr>
              <a:t>  ★  PWA-first approach = 60% lower development cost vs native apps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09728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6C3CE1"/>
                </a:solidFill>
              </a:rPr>
              <a:t>VIBES@Outing</a:t>
            </a:r>
            <a:r>
              <a:rPr sz="1000">
                <a:solidFill>
                  <a:srgbClr val="6C757D"/>
                </a:solidFill>
              </a:rPr>
              <a:t>  •  Premium GenZ Group Outings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291072"/>
            <a:ext cx="347472" cy="3474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C3CE1"/>
                </a:solidFill>
              </a:rPr>
              <a:t>VIBES@Outing — Discover. Connect. Explore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263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CCA3"/>
                </a:solidFill>
              </a:rPr>
              <a:t>www.vibesouting.in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0"/>
            <a:ext cx="54864" cy="5577840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E1B2E"/>
                </a:solidFill>
              </a:rPr>
              <a:t>MCP Server Integration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371600"/>
            <a:ext cx="1828800" cy="36576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1554480"/>
            <a:ext cx="8229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6C3CE1"/>
                </a:solidFill>
              </a:rPr>
              <a:t>Model Context Protocol (MCP) Server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AI agent integration for intelligent trip recommendations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Built with @modelcontextprotocol/sdk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6C3CE1"/>
                </a:solidFill>
              </a:rPr>
              <a:t>Capabilities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Natural language trip search: 'Find me a beach trip under ₹10K'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Group preference matching: Analyze interests, suggest optimal trip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Dynamic pricing suggestions based on demand/seasonality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6C3CE1"/>
                </a:solidFill>
              </a:rPr>
              <a:t>Architecture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MCP server runs as standalone service alongside main API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Exposes tools: search_outings, recommend_trip, check_availability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Integrates with LLM providers for natural language understanding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6C3CE1"/>
                </a:solidFill>
              </a:rPr>
              <a:t>  ★  AI-powered recommendations increase conversion by estimated 25%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09728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6C3CE1"/>
                </a:solidFill>
              </a:rPr>
              <a:t>VIBES@Outing</a:t>
            </a:r>
            <a:r>
              <a:rPr sz="1000">
                <a:solidFill>
                  <a:srgbClr val="6C757D"/>
                </a:solidFill>
              </a:rPr>
              <a:t>  •  Premium GenZ Group Outings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291072"/>
            <a:ext cx="347472" cy="3474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C3CE1"/>
                </a:solidFill>
              </a:rPr>
              <a:t>VIBES@Outing — Discover. Connect. Explore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263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CCA3"/>
                </a:solidFill>
              </a:rPr>
              <a:t>www.vibesouting.in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0"/>
            <a:ext cx="54864" cy="5577840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E1B2E"/>
                </a:solidFill>
              </a:rPr>
              <a:t>DevOps &amp; Infrastructure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371600"/>
            <a:ext cx="1828800" cy="36576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1554480"/>
            <a:ext cx="8229600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b="1" dirty="0">
                <a:solidFill>
                  <a:srgbClr val="6C3CE1"/>
                </a:solidFill>
              </a:rPr>
              <a:t>Current Infrastructure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dirty="0">
                <a:solidFill>
                  <a:srgbClr val="1E1B2E"/>
                </a:solidFill>
              </a:rPr>
              <a:t>●  Render.com: Auto-deploy from GitHub, managed PostgreSQL, SSL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dirty="0">
                <a:solidFill>
                  <a:srgbClr val="1E1B2E"/>
                </a:solidFill>
              </a:rPr>
              <a:t>●  </a:t>
            </a:r>
            <a:r>
              <a:rPr sz="1200" dirty="0" err="1">
                <a:solidFill>
                  <a:srgbClr val="1E1B2E"/>
                </a:solidFill>
              </a:rPr>
              <a:t>Vercel</a:t>
            </a:r>
            <a:r>
              <a:rPr sz="1200" dirty="0">
                <a:solidFill>
                  <a:srgbClr val="1E1B2E"/>
                </a:solidFill>
              </a:rPr>
              <a:t>: Edge deployment for frontend, instant rollbacks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dirty="0">
                <a:solidFill>
                  <a:srgbClr val="1E1B2E"/>
                </a:solidFill>
              </a:rPr>
              <a:t>●  Docker: Containerized backend for consistent environments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b="1" dirty="0">
                <a:solidFill>
                  <a:srgbClr val="6C3CE1"/>
                </a:solidFill>
              </a:rPr>
              <a:t>CI/CD Pipeline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dirty="0">
                <a:solidFill>
                  <a:srgbClr val="1E1B2E"/>
                </a:solidFill>
              </a:rPr>
              <a:t>●  GitHub → Auto-deploy to Render (backend) + </a:t>
            </a:r>
            <a:r>
              <a:rPr sz="1200" dirty="0" err="1">
                <a:solidFill>
                  <a:srgbClr val="1E1B2E"/>
                </a:solidFill>
              </a:rPr>
              <a:t>Vercel</a:t>
            </a:r>
            <a:r>
              <a:rPr sz="1200" dirty="0">
                <a:solidFill>
                  <a:srgbClr val="1E1B2E"/>
                </a:solidFill>
              </a:rPr>
              <a:t> (frontend)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dirty="0">
                <a:solidFill>
                  <a:srgbClr val="1E1B2E"/>
                </a:solidFill>
              </a:rPr>
              <a:t>●  Test suite: Automated tests in tests/test_all.js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b="1" dirty="0">
                <a:solidFill>
                  <a:srgbClr val="6C3CE1"/>
                </a:solidFill>
              </a:rPr>
              <a:t>Monitoring &amp; Observability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dirty="0">
                <a:solidFill>
                  <a:srgbClr val="1E1B2E"/>
                </a:solidFill>
              </a:rPr>
              <a:t>●  Application logs via Render dashboard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dirty="0">
                <a:solidFill>
                  <a:srgbClr val="1E1B2E"/>
                </a:solidFill>
              </a:rPr>
              <a:t>●  Error tracking: Structured error responses with status codes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dirty="0">
                <a:solidFill>
                  <a:srgbClr val="1E1B2E"/>
                </a:solidFill>
              </a:rPr>
              <a:t>●  Database monitoring: Connection pool health, query performance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b="1" dirty="0">
                <a:solidFill>
                  <a:srgbClr val="6C3CE1"/>
                </a:solidFill>
              </a:rPr>
              <a:t>Scale-Up Plan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dirty="0">
                <a:solidFill>
                  <a:srgbClr val="1E1B2E"/>
                </a:solidFill>
              </a:rPr>
              <a:t>●  Horizontal scaling: Render auto-scale on traffic spikes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dirty="0">
                <a:solidFill>
                  <a:srgbClr val="1E1B2E"/>
                </a:solidFill>
              </a:rPr>
              <a:t>●  Database: Read replicas for analytics queries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dirty="0">
                <a:solidFill>
                  <a:srgbClr val="1E1B2E"/>
                </a:solidFill>
              </a:rPr>
              <a:t>●  CDN: Cloudflare for global edge caching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b="1" dirty="0">
                <a:solidFill>
                  <a:srgbClr val="6C3CE1"/>
                </a:solidFill>
              </a:rPr>
              <a:t>  ★  Current architecture handles 10,000+ concurrent users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09728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6C3CE1"/>
                </a:solidFill>
              </a:rPr>
              <a:t>VIBES@Outing</a:t>
            </a:r>
            <a:r>
              <a:rPr sz="1000">
                <a:solidFill>
                  <a:srgbClr val="6C757D"/>
                </a:solidFill>
              </a:rPr>
              <a:t>  •  Premium GenZ Group Outings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291072"/>
            <a:ext cx="347472" cy="3474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C3CE1"/>
                </a:solidFill>
              </a:rPr>
              <a:t>VIBES@Outing — Discover. Connect. Explore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263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CCA3"/>
                </a:solidFill>
              </a:rPr>
              <a:t>www.vibesouting.in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0"/>
            <a:ext cx="54864" cy="5577840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E1B2E"/>
                </a:solidFill>
              </a:rPr>
              <a:t>Technical Roadmap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371600"/>
            <a:ext cx="1828800" cy="36576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1554480"/>
            <a:ext cx="8229600" cy="45294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 dirty="0">
                <a:solidFill>
                  <a:srgbClr val="6C3CE1"/>
                </a:solidFill>
              </a:rPr>
              <a:t>Phase 1: Current (MVP Live)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dirty="0">
                <a:solidFill>
                  <a:srgbClr val="1E1B2E"/>
                </a:solidFill>
              </a:rPr>
              <a:t>●  Full-featured PWA, </a:t>
            </a:r>
            <a:r>
              <a:rPr sz="1300" dirty="0" err="1">
                <a:solidFill>
                  <a:srgbClr val="1E1B2E"/>
                </a:solidFill>
              </a:rPr>
              <a:t>Razorpay</a:t>
            </a:r>
            <a:r>
              <a:rPr sz="1300" dirty="0">
                <a:solidFill>
                  <a:srgbClr val="1E1B2E"/>
                </a:solidFill>
              </a:rPr>
              <a:t> payments, Admin dashboard, MCP server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 dirty="0">
                <a:solidFill>
                  <a:srgbClr val="6C3CE1"/>
                </a:solidFill>
              </a:rPr>
              <a:t>Phase 2: Q3-Q4 2026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dirty="0">
                <a:solidFill>
                  <a:srgbClr val="1E1B2E"/>
                </a:solidFill>
              </a:rPr>
              <a:t>●  React Native mobile app (iOS + Android)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dirty="0">
                <a:solidFill>
                  <a:srgbClr val="1E1B2E"/>
                </a:solidFill>
              </a:rPr>
              <a:t>●  Real-time notifications (WebSocket/SSE)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dirty="0">
                <a:solidFill>
                  <a:srgbClr val="1E1B2E"/>
                </a:solidFill>
              </a:rPr>
              <a:t>●  AI recommendation engine v2 (collaborative filtering)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 dirty="0">
                <a:solidFill>
                  <a:srgbClr val="6C3CE1"/>
                </a:solidFill>
              </a:rPr>
              <a:t>Phase 3: 2027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dirty="0">
                <a:solidFill>
                  <a:srgbClr val="1E1B2E"/>
                </a:solidFill>
              </a:rPr>
              <a:t>●  Organizer self-service portal with API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dirty="0">
                <a:solidFill>
                  <a:srgbClr val="1E1B2E"/>
                </a:solidFill>
              </a:rPr>
              <a:t>●  Advanced analytics dashboard (</a:t>
            </a:r>
            <a:r>
              <a:rPr sz="1300" dirty="0" err="1">
                <a:solidFill>
                  <a:srgbClr val="1E1B2E"/>
                </a:solidFill>
              </a:rPr>
              <a:t>Metabase</a:t>
            </a:r>
            <a:r>
              <a:rPr sz="1300" dirty="0">
                <a:solidFill>
                  <a:srgbClr val="1E1B2E"/>
                </a:solidFill>
              </a:rPr>
              <a:t>/custom)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dirty="0">
                <a:solidFill>
                  <a:srgbClr val="1E1B2E"/>
                </a:solidFill>
              </a:rPr>
              <a:t>●  Multi-region database deployment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 dirty="0">
                <a:solidFill>
                  <a:srgbClr val="6C3CE1"/>
                </a:solidFill>
              </a:rPr>
              <a:t>Phase 4: 2028+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dirty="0">
                <a:solidFill>
                  <a:srgbClr val="1E1B2E"/>
                </a:solidFill>
              </a:rPr>
              <a:t>●  Microservices architecture migration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dirty="0">
                <a:solidFill>
                  <a:srgbClr val="1E1B2E"/>
                </a:solidFill>
              </a:rPr>
              <a:t>●  ML-powered dynamic pricing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dirty="0">
                <a:solidFill>
                  <a:srgbClr val="1E1B2E"/>
                </a:solidFill>
              </a:rPr>
              <a:t>●  Social features: User profiles, connections, trip albums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 dirty="0">
                <a:solidFill>
                  <a:srgbClr val="6C3CE1"/>
                </a:solidFill>
              </a:rPr>
              <a:t>  ★  All phases maintain backward compatibility — zero downtime migrations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_squ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731520"/>
            <a:ext cx="2103120" cy="2103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6C3CE1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</a:rPr>
              <a:t>VIBES@Outing — Tech Lead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6400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dirty="0">
                <a:solidFill>
                  <a:srgbClr val="00CCA3"/>
                </a:solidFill>
              </a:rPr>
              <a:t>🌐  www.vibesouting.in</a:t>
            </a:r>
          </a:p>
          <a:p>
            <a:pPr algn="ctr"/>
            <a:r>
              <a:rPr sz="1200" dirty="0">
                <a:solidFill>
                  <a:srgbClr val="00CCA3"/>
                </a:solidFill>
              </a:rPr>
              <a:t>📧  vibesoutingsupport@gmail.com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760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i="1">
                <a:solidFill>
                  <a:srgbClr val="FFD93D"/>
                </a:solidFill>
              </a:rPr>
              <a:t>"Touch grass. Make memories. No cap." 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1253</Words>
  <Application>Microsoft Office PowerPoint</Application>
  <PresentationFormat>On-screen Show (4:3)</PresentationFormat>
  <Paragraphs>187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kala, Vikas (FT D AA IN PAMC MC MTS-SWHMI1 TA)</cp:lastModifiedBy>
  <cp:revision>4</cp:revision>
  <dcterms:created xsi:type="dcterms:W3CDTF">2013-01-27T09:14:16Z</dcterms:created>
  <dcterms:modified xsi:type="dcterms:W3CDTF">2026-05-16T08:53:11Z</dcterms:modified>
  <cp:category/>
</cp:coreProperties>
</file>